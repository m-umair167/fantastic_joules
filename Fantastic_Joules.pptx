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Draw (Constant)</c:v>
                </c:pt>
              </c:strCache>
            </c:strRef>
          </c:tx>
          <c:spPr>
            <a:solidFill>
              <a:srgbClr val="C84B11"/>
            </a:solidFill>
            <a:ln w="38100" cap="flat">
              <a:solidFill>
                <a:srgbClr val="C84B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B11"/>
              </a:solidFill>
              <a:ln w="9525" cap="flat">
                <a:solidFill>
                  <a:srgbClr val="C84B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0h</c:v>
                  </c:pt>
                  <c:pt idx="1">
                    <c:v>3h</c:v>
                  </c:pt>
                  <c:pt idx="2">
                    <c:v>6h</c:v>
                  </c:pt>
                  <c:pt idx="3">
                    <c:v>9h</c:v>
                  </c:pt>
                  <c:pt idx="4">
                    <c:v>12h</c:v>
                  </c:pt>
                  <c:pt idx="5">
                    <c:v>15h</c:v>
                  </c:pt>
                  <c:pt idx="6">
                    <c:v>18h</c:v>
                  </c:pt>
                  <c:pt idx="7">
                    <c:v>21h</c:v>
                  </c:pt>
                  <c:pt idx="8">
                    <c:v>24h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Traffic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0h</c:v>
                  </c:pt>
                  <c:pt idx="1">
                    <c:v>3h</c:v>
                  </c:pt>
                  <c:pt idx="2">
                    <c:v>6h</c:v>
                  </c:pt>
                  <c:pt idx="3">
                    <c:v>9h</c:v>
                  </c:pt>
                  <c:pt idx="4">
                    <c:v>12h</c:v>
                  </c:pt>
                  <c:pt idx="5">
                    <c:v>15h</c:v>
                  </c:pt>
                  <c:pt idx="6">
                    <c:v>18h</c:v>
                  </c:pt>
                  <c:pt idx="7">
                    <c:v>21h</c:v>
                  </c:pt>
                  <c:pt idx="8">
                    <c:v>24h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</c:v>
                </c:pt>
                <c:pt idx="1">
                  <c:v>30</c:v>
                </c:pt>
                <c:pt idx="2">
                  <c:v>25</c:v>
                </c:pt>
                <c:pt idx="3">
                  <c:v>55</c:v>
                </c:pt>
                <c:pt idx="4">
                  <c:v>75</c:v>
                </c:pt>
                <c:pt idx="5">
                  <c:v>60</c:v>
                </c:pt>
                <c:pt idx="6">
                  <c:v>80</c:v>
                </c:pt>
                <c:pt idx="7">
                  <c:v>55</c:v>
                </c:pt>
                <c:pt idx="8">
                  <c:v>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Time (24 Hours)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560"/>
          </a:solidFill>
          <a:ln w="12700">
            <a:solidFill>
              <a:srgbClr val="25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2E3E6E"/>
          </a:solidFill>
          <a:ln w="12700">
            <a:solidFill>
              <a:srgbClr val="2E3E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253560"/>
          </a:solidFill>
          <a:ln w="12700">
            <a:solidFill>
              <a:srgbClr val="25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91440" cy="2560320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Fantastic Joules: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Power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a Modern Computer Networks Research Paper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5029200" cy="1280160"/>
          </a:xfrm>
          <a:prstGeom prst="rect">
            <a:avLst/>
          </a:prstGeom>
          <a:solidFill>
            <a:srgbClr val="253560"/>
          </a:solidFill>
          <a:ln w="12700">
            <a:solidFill>
              <a:srgbClr val="2E40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200" dirty="0">
                <a:solidFill>
                  <a:srgbClr val="A8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Umair, Muhammad Umair Hafeez, Ahmad Hafeez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buNone/>
            </a:pPr>
            <a:r>
              <a:rPr lang="en-US" sz="1200" dirty="0">
                <a:solidFill>
                  <a:srgbClr val="A8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Akmal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Matter?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0" y="1005840"/>
            <a:ext cx="3931920" cy="2926080"/>
          </a:xfrm>
          <a:prstGeom prst="rect">
            <a:avLst/>
          </a:prstGeom>
          <a:solidFill>
            <a:srgbClr val="1A2740"/>
          </a:solidFill>
          <a:ln w="12700">
            <a:solidFill>
              <a:srgbClr val="2E3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0" y="1280160"/>
            <a:ext cx="3383280" cy="292608"/>
          </a:xfrm>
          <a:prstGeom prst="rect">
            <a:avLst/>
          </a:prstGeom>
          <a:solidFill>
            <a:srgbClr val="253860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0" y="1298448"/>
            <a:ext cx="457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307592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1737360"/>
            <a:ext cx="3383280" cy="292608"/>
          </a:xfrm>
          <a:prstGeom prst="rect">
            <a:avLst/>
          </a:prstGeom>
          <a:solidFill>
            <a:srgbClr val="253860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0" y="1755648"/>
            <a:ext cx="457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1764792"/>
            <a:ext cx="109728" cy="109728"/>
          </a:xfrm>
          <a:prstGeom prst="ellipse">
            <a:avLst/>
          </a:prstGeom>
          <a:solidFill>
            <a:srgbClr val="C84B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194560"/>
            <a:ext cx="3383280" cy="292608"/>
          </a:xfrm>
          <a:prstGeom prst="rect">
            <a:avLst/>
          </a:prstGeom>
          <a:solidFill>
            <a:srgbClr val="253860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2212848"/>
            <a:ext cx="457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221992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651760"/>
            <a:ext cx="3383280" cy="292608"/>
          </a:xfrm>
          <a:prstGeom prst="rect">
            <a:avLst/>
          </a:prstGeom>
          <a:solidFill>
            <a:srgbClr val="253860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2670048"/>
            <a:ext cx="457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679192"/>
            <a:ext cx="109728" cy="109728"/>
          </a:xfrm>
          <a:prstGeom prst="ellipse">
            <a:avLst/>
          </a:prstGeom>
          <a:solidFill>
            <a:srgbClr val="C84B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3108960"/>
            <a:ext cx="3383280" cy="292608"/>
          </a:xfrm>
          <a:prstGeom prst="rect">
            <a:avLst/>
          </a:prstGeom>
          <a:solidFill>
            <a:srgbClr val="253860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3127248"/>
            <a:ext cx="457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3136392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1097280"/>
            <a:ext cx="4206240" cy="1051560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11247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1965960" y="1143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 entire electricity output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24028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7744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Power Users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5840" y="25877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are the 'traffic officers' of the web and consume the most energy in the network.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32461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383280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0584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05840" y="35935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actually know if the energy labels on industrial routers are honest or accurate.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3 Simple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7315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280160"/>
            <a:ext cx="822960" cy="822960"/>
          </a:xfrm>
          <a:prstGeom prst="ellipse">
            <a:avLst/>
          </a:prstGeom>
          <a:solidFill>
            <a:srgbClr val="FFF3EC"/>
          </a:solidFill>
          <a:ln w="12700">
            <a:solidFill>
              <a:srgbClr val="FFD5B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3898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Datasheets?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6974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the official energy labels and specifications from major manufacturers like Cisco?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51560"/>
            <a:ext cx="2834640" cy="7315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280160"/>
            <a:ext cx="822960" cy="822960"/>
          </a:xfrm>
          <a:prstGeom prst="ellipse">
            <a:avLst/>
          </a:prstGeom>
          <a:solidFill>
            <a:srgbClr val="FFF3EC"/>
          </a:solidFill>
          <a:ln w="12700">
            <a:solidFill>
              <a:srgbClr val="FFD5B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Sensors?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29000" y="26974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the internal power sensors built directly into the routing hardware to report accurately?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6364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051560"/>
            <a:ext cx="2834640" cy="7315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69480" y="1280160"/>
            <a:ext cx="822960" cy="822960"/>
          </a:xfrm>
          <a:prstGeom prst="ellipse">
            <a:avLst/>
          </a:prstGeom>
          <a:solidFill>
            <a:srgbClr val="FFF3EC"/>
          </a:solidFill>
          <a:ln w="12700">
            <a:solidFill>
              <a:srgbClr val="FFD5B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38988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Power?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26974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formulate a mathematical model to accurately predict how much power a router will use?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Did Data Come From?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2926080"/>
          </a:xfrm>
          <a:prstGeom prst="rect">
            <a:avLst/>
          </a:prstGeom>
          <a:solidFill>
            <a:srgbClr val="1A3A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286000" cy="45720"/>
          </a:xfrm>
          <a:prstGeom prst="rect">
            <a:avLst/>
          </a:prstGeom>
          <a:solidFill>
            <a:srgbClr val="2A7A2A"/>
          </a:solidFill>
          <a:ln w="12700">
            <a:solidFill>
              <a:srgbClr val="2A7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200400" cy="45720"/>
          </a:xfrm>
          <a:prstGeom prst="rect">
            <a:avLst/>
          </a:prstGeom>
          <a:solidFill>
            <a:srgbClr val="2A7A2A"/>
          </a:solidFill>
          <a:ln w="12700">
            <a:solidFill>
              <a:srgbClr val="2A7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1828800" cy="45720"/>
          </a:xfrm>
          <a:prstGeom prst="rect">
            <a:avLst/>
          </a:prstGeom>
          <a:solidFill>
            <a:srgbClr val="2A7A2A"/>
          </a:solidFill>
          <a:ln w="12700">
            <a:solidFill>
              <a:srgbClr val="2A7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3200400" cy="45720"/>
          </a:xfrm>
          <a:prstGeom prst="rect">
            <a:avLst/>
          </a:prstGeom>
          <a:solidFill>
            <a:srgbClr val="2A7A2A"/>
          </a:solidFill>
          <a:ln w="12700">
            <a:solidFill>
              <a:srgbClr val="2A7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00400"/>
            <a:ext cx="1371600" cy="45720"/>
          </a:xfrm>
          <a:prstGeom prst="rect">
            <a:avLst/>
          </a:prstGeom>
          <a:solidFill>
            <a:srgbClr val="2A7A2A"/>
          </a:solidFill>
          <a:ln w="12700">
            <a:solidFill>
              <a:srgbClr val="2A7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508760"/>
            <a:ext cx="82296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011680"/>
            <a:ext cx="1005840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834640"/>
            <a:ext cx="640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1645920"/>
            <a:ext cx="164592" cy="164592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148840"/>
            <a:ext cx="164592" cy="164592"/>
          </a:xfrm>
          <a:prstGeom prst="ellipse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880360"/>
            <a:ext cx="164592" cy="164592"/>
          </a:xfrm>
          <a:prstGeom prst="ellipse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2A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BOARD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80560" y="109728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097280"/>
            <a:ext cx="73152" cy="1005840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188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16642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94960" y="12070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real-world operational data from a Swiss Internet Provider (Switch)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28600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2286000"/>
            <a:ext cx="73152" cy="1005840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377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17720" y="28529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Models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94960" y="23957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across the extensive study encompassing diverse hardware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338328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383280"/>
            <a:ext cx="73152" cy="1005840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474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617720" y="39502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Autopower Device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94960" y="34930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Raspberry Pi device to measure the absolute truth of power usage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1: </a:t>
            </a:r>
            <a:pPr indent="0" marL="0">
              <a:buNone/>
            </a:pPr>
            <a:r>
              <a:rPr lang="en-US" sz="2800" b="1" i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False Labels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4114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005840"/>
            <a:ext cx="2377440" cy="4114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24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(Typical)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2194560" cy="4114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24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(Measured)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1005840"/>
            <a:ext cx="1737360" cy="4114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024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ASR 9000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1728 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780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+44.0%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8503920" cy="548640"/>
          </a:xfrm>
          <a:prstGeom prst="rect">
            <a:avLst/>
          </a:prstGeom>
          <a:solidFill>
            <a:srgbClr val="F9F9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Juniper MX960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 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2150 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80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NE40E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915 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804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8503920" cy="1280160"/>
          </a:xfrm>
          <a:prstGeom prst="rect">
            <a:avLst/>
          </a:prstGeom>
          <a:solidFill>
            <a:srgbClr val="FFF3EC"/>
          </a:solidFill>
          <a:ln w="12700">
            <a:solidFill>
              <a:srgbClr val="FFD5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429000"/>
            <a:ext cx="73152" cy="1280160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5661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give "typical" power numbers on stickers. These labels are strictly for planning safe electrical cables, not for tracking real-world energy efficiency.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2: </a:t>
            </a:r>
            <a:pPr indent="0" marL="0">
              <a:buNone/>
            </a:pPr>
            <a:r>
              <a:rPr lang="en-US" sz="2800" b="1" i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Lightbulb Analogy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94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411480" y="105156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51560"/>
            <a:ext cx="2926080" cy="13716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2084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08076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are like lightbulbs — once plugged in, they draw maximum power regardless of traffic load.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943600" y="2560320"/>
            <a:ext cx="2926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80760" y="26517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traffic = more power?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1 or 1 million users are on the link, the power stays almost exactly the same.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3: </a:t>
            </a:r>
            <a:pPr indent="0" marL="0">
              <a:buNone/>
            </a:pPr>
            <a:r>
              <a:rPr lang="en-US" sz="2800" b="1" i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Link Sleeping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0" y="1051560"/>
            <a:ext cx="3931920" cy="2926080"/>
          </a:xfrm>
          <a:prstGeom prst="rect">
            <a:avLst/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051560"/>
            <a:ext cx="1737360" cy="2926080"/>
          </a:xfrm>
          <a:prstGeom prst="rect">
            <a:avLst/>
          </a:prstGeom>
          <a:solidFill>
            <a:srgbClr val="1C1C2A"/>
          </a:solidFill>
          <a:ln w="12700">
            <a:solidFill>
              <a:srgbClr val="1C1C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1234440"/>
            <a:ext cx="109728" cy="274320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1737360"/>
            <a:ext cx="109728" cy="274320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2240280"/>
            <a:ext cx="109728" cy="274320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2743200"/>
            <a:ext cx="109728" cy="274320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3246120"/>
            <a:ext cx="109728" cy="274320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1188720"/>
            <a:ext cx="54864" cy="8229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1097280"/>
            <a:ext cx="320040" cy="228600"/>
          </a:xfrm>
          <a:prstGeom prst="ellipse">
            <a:avLst/>
          </a:prstGeom>
          <a:solidFill>
            <a:srgbClr val="FFEE88"/>
          </a:solidFill>
          <a:ln w="12700">
            <a:solidFill>
              <a:srgbClr val="FFEE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1325880"/>
            <a:ext cx="54864" cy="6858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234440"/>
            <a:ext cx="320040" cy="228600"/>
          </a:xfrm>
          <a:prstGeom prst="ellipse">
            <a:avLst/>
          </a:prstGeom>
          <a:solidFill>
            <a:srgbClr val="FFEE88"/>
          </a:solidFill>
          <a:ln w="12700">
            <a:solidFill>
              <a:srgbClr val="FFEE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005840"/>
            <a:ext cx="548640" cy="365760"/>
          </a:xfrm>
          <a:prstGeom prst="ellipse">
            <a:avLst/>
          </a:prstGeom>
          <a:solidFill>
            <a:srgbClr val="FFFFAA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143000"/>
            <a:ext cx="548640" cy="365760"/>
          </a:xfrm>
          <a:prstGeom prst="ellipse">
            <a:avLst/>
          </a:prstGeom>
          <a:solidFill>
            <a:srgbClr val="FFFFAA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STREETLIGHTS STAY 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09728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097280"/>
            <a:ext cx="73152" cy="80467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161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14447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 Sleeping" — turning off specific network ports at night to save power.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103120"/>
            <a:ext cx="73152" cy="80467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4505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hardware plug (the "Transceiver") keeps drawing power even if the software port is set to "Off."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08960"/>
            <a:ext cx="73152" cy="80467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72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456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highway lane doesn't save energy if all the streetlights stay on anyway.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Rebuilt the </a:t>
            </a:r>
            <a:pPr indent="0" marL="0">
              <a:buNone/>
            </a:pPr>
            <a:r>
              <a:rPr lang="en-US" sz="2800" b="1" i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7315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280160"/>
            <a:ext cx="822960" cy="82296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3898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Setup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6974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created a clean environment using the exact ETH Zurich code within a Virtual Lab (Conda) to ensure consistency.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51560"/>
            <a:ext cx="2834640" cy="7315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280160"/>
            <a:ext cx="822960" cy="822960"/>
          </a:xfrm>
          <a:prstGeom prst="ellipse">
            <a:avLst/>
          </a:prstGeom>
          <a:solidFill>
            <a:srgbClr val="FFF3EC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29000" y="26974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discovered a hidden bug in the original authors' code — a missing scipy library dependency — and successfully fixed it.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6364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051560"/>
            <a:ext cx="2834640" cy="73152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69480" y="1280160"/>
            <a:ext cx="822960" cy="822960"/>
          </a:xfrm>
          <a:prstGeom prst="ellipse">
            <a:avLst/>
          </a:prstGeom>
          <a:solidFill>
            <a:srgbClr val="EFFA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38988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Workaround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26974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some raw data was missing, we engineered a custom script to extract high-resolution charts directly from the research PDF.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Reproduction </a:t>
            </a:r>
            <a:pPr indent="0" marL="0">
              <a:buNone/>
            </a:pPr>
            <a:r>
              <a:rPr lang="en-US" sz="2800" b="1" i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615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the Paper: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our rebuilt models corroborated the authors' original findings.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01168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627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48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Replication: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independent calculations for Table 1 matched the paper perfectly.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65760" y="29718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36392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108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Validation: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Figure 1 time-series analysis matched the paper's charts exactly.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96512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Busted: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"Power vs. Traffic" is a myth at the network scale — successfully validated.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822960"/>
            <a:ext cx="3657600" cy="3657600"/>
          </a:xfrm>
          <a:prstGeom prst="ellipse">
            <a:avLst/>
          </a:prstGeom>
          <a:solidFill>
            <a:srgbClr val="253560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8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SAVED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80560" y="2743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Actually </a:t>
            </a:r>
            <a:pPr indent="0" marL="0">
              <a:buNone/>
            </a:pPr>
            <a:r>
              <a:rPr lang="en-US" sz="2600" b="1" i="1" dirty="0">
                <a:solidFill>
                  <a:srgbClr val="C84B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Energy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80560" y="1051560"/>
            <a:ext cx="4297680" cy="1645920"/>
          </a:xfrm>
          <a:prstGeom prst="rect">
            <a:avLst/>
          </a:prstGeom>
          <a:solidFill>
            <a:srgbClr val="253560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Hardware, not Software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attempting ineffective software solutions like turning off links, the focus should be on the Power Supply Units (PSUs).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2834640"/>
            <a:ext cx="4297680" cy="1508760"/>
          </a:xfrm>
          <a:prstGeom prst="rect">
            <a:avLst/>
          </a:prstGeom>
          <a:solidFill>
            <a:srgbClr val="C84B11"/>
          </a:solidFill>
          <a:ln w="12700">
            <a:solidFill>
              <a:srgbClr val="C84B1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971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5780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 Standard PSUs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440" y="3383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infrastructure to use more efficient power supplies meeting the Titanium standard can save 9% of total network energy instantly, without changing a single software setting.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3560"/>
          </a:solidFill>
          <a:ln w="12700">
            <a:solidFill>
              <a:srgbClr val="25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53560"/>
          </a:solidFill>
          <a:ln w="12700">
            <a:solidFill>
              <a:srgbClr val="253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45920"/>
            <a:ext cx="7315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745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</a:t>
            </a:r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 are unreliable; static power is the main enemy;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plugs (Titanium PSUs) are the true solution.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attention!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Fantastic Joules: Tracking Power</dc:title>
  <dc:subject>PptxGenJS Presentation</dc:subject>
  <dc:creator>PptxGenJS</dc:creator>
  <cp:lastModifiedBy>PptxGenJS</cp:lastModifiedBy>
  <cp:revision>1</cp:revision>
  <dcterms:created xsi:type="dcterms:W3CDTF">2026-05-31T20:00:00Z</dcterms:created>
  <dcterms:modified xsi:type="dcterms:W3CDTF">2026-05-31T20:00:00Z</dcterms:modified>
</cp:coreProperties>
</file>